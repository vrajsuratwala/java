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7" r:id="rId6"/>
    <p:sldId id="259" r:id="rId7"/>
    <p:sldId id="260" r:id="rId8"/>
    <p:sldId id="292" r:id="rId9"/>
    <p:sldId id="261" r:id="rId10"/>
    <p:sldId id="291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11" r:id="rId48"/>
    <p:sldId id="305" r:id="rId49"/>
    <p:sldId id="306" r:id="rId50"/>
    <p:sldId id="307" r:id="rId51"/>
    <p:sldId id="308" r:id="rId52"/>
    <p:sldId id="309" r:id="rId53"/>
    <p:sldId id="310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JPA - Java Persistence API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Definition : JPA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JPA refers to Java Persistance API is a specification used to manage relational data in java applications using object-relational mapping (ORM).</a:t>
            </a:r>
            <a:endParaRPr lang="en-US"/>
          </a:p>
          <a:p>
            <a:r>
              <a:rPr lang="en-US"/>
              <a:t>in simple words,</a:t>
            </a:r>
            <a:endParaRPr lang="en-US"/>
          </a:p>
          <a:p>
            <a:pPr lvl="1"/>
            <a:r>
              <a:rPr lang="en-US"/>
              <a:t>JPA converts Java Object -&gt; Database tables automatically.</a:t>
            </a: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JPA Architecture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37765" y="1867535"/>
            <a:ext cx="73152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Description Table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4240" y="1391920"/>
            <a:ext cx="8351520" cy="4910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Main components of JPA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1. Entity</a:t>
            </a:r>
            <a:endParaRPr lang="en-US"/>
          </a:p>
          <a:p>
            <a:r>
              <a:rPr lang="en-US">
                <a:sym typeface="+mn-ea"/>
              </a:rPr>
              <a:t>2. Entity Manager</a:t>
            </a:r>
            <a:endParaRPr lang="en-US"/>
          </a:p>
          <a:p>
            <a:r>
              <a:rPr lang="en-US"/>
              <a:t>3. Persistence Unit</a:t>
            </a:r>
            <a:endParaRPr lang="en-US"/>
          </a:p>
          <a:p>
            <a:r>
              <a:rPr lang="en-US">
                <a:sym typeface="+mn-ea"/>
              </a:rPr>
              <a:t>4. Persistence Context</a:t>
            </a:r>
            <a:r>
              <a:rPr lang="en-US"/>
              <a:t> </a:t>
            </a:r>
            <a:endParaRPr lang="en-US"/>
          </a:p>
          <a:p>
            <a:r>
              <a:rPr lang="en-US"/>
              <a:t>5. JPA Provider</a:t>
            </a:r>
            <a:endParaRPr lang="en-US"/>
          </a:p>
          <a:p>
            <a:r>
              <a:rPr lang="en-US"/>
              <a:t>6. Database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1. Entity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java class mapped to database table.</a:t>
            </a:r>
            <a:endParaRPr lang="en-US"/>
          </a:p>
          <a:p>
            <a:r>
              <a:rPr lang="en-US"/>
              <a:t>Example : </a:t>
            </a:r>
            <a:endParaRPr lang="en-US"/>
          </a:p>
          <a:p>
            <a:pPr lvl="1"/>
            <a:r>
              <a:rPr lang="en-US" altLang="en-US"/>
              <a:t>@Entity</a:t>
            </a:r>
            <a:endParaRPr lang="en-US" altLang="en-US"/>
          </a:p>
          <a:p>
            <a:pPr lvl="1"/>
            <a:r>
              <a:rPr lang="en-US" altLang="en-US"/>
              <a:t>public class User {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    @Id</a:t>
            </a:r>
            <a:endParaRPr lang="en-US" altLang="en-US"/>
          </a:p>
          <a:p>
            <a:pPr lvl="1"/>
            <a:r>
              <a:rPr lang="en-US" altLang="en-US"/>
              <a:t>    private int id;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    private String name;</a:t>
            </a:r>
            <a:endParaRPr lang="en-US" altLang="en-US"/>
          </a:p>
          <a:p>
            <a:pPr lvl="1"/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2. EntityManager - Operation on an Entity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main interface of JPA.</a:t>
            </a:r>
            <a:endParaRPr lang="en-US"/>
          </a:p>
          <a:p>
            <a:r>
              <a:rPr lang="en-US"/>
              <a:t>used to :</a:t>
            </a:r>
            <a:endParaRPr lang="en-US"/>
          </a:p>
          <a:p>
            <a:pPr lvl="1"/>
            <a:r>
              <a:rPr lang="en-US"/>
              <a:t>persist()</a:t>
            </a:r>
            <a:endParaRPr lang="en-US"/>
          </a:p>
          <a:p>
            <a:pPr lvl="1"/>
            <a:r>
              <a:rPr lang="en-US"/>
              <a:t>find()</a:t>
            </a:r>
            <a:endParaRPr lang="en-US"/>
          </a:p>
          <a:p>
            <a:pPr lvl="1"/>
            <a:r>
              <a:rPr lang="en-US"/>
              <a:t>merge()</a:t>
            </a:r>
            <a:endParaRPr lang="en-US"/>
          </a:p>
          <a:p>
            <a:pPr lvl="1"/>
            <a:r>
              <a:rPr lang="en-US"/>
              <a:t>remove()</a:t>
            </a:r>
            <a:endParaRPr lang="en-US"/>
          </a:p>
          <a:p>
            <a:pPr lvl="0"/>
            <a:r>
              <a:rPr lang="en-US"/>
              <a:t>Example :</a:t>
            </a:r>
            <a:endParaRPr lang="en-US"/>
          </a:p>
          <a:p>
            <a:pPr lvl="1"/>
            <a:r>
              <a:rPr lang="en-US"/>
              <a:t>@PersistenceContext</a:t>
            </a:r>
            <a:endParaRPr lang="en-US"/>
          </a:p>
          <a:p>
            <a:pPr lvl="1"/>
            <a:r>
              <a:rPr lang="en-US"/>
              <a:t>EntityManager em;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3. Persistence Unit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Defined in persistence.xml</a:t>
            </a:r>
            <a:endParaRPr lang="en-US"/>
          </a:p>
          <a:p>
            <a:r>
              <a:rPr lang="en-US"/>
              <a:t>it contains :</a:t>
            </a:r>
            <a:endParaRPr lang="en-US"/>
          </a:p>
          <a:p>
            <a:pPr lvl="1"/>
            <a:r>
              <a:rPr lang="en-US"/>
              <a:t>Database config</a:t>
            </a:r>
            <a:endParaRPr lang="en-US"/>
          </a:p>
          <a:p>
            <a:pPr lvl="1"/>
            <a:r>
              <a:rPr lang="en-US"/>
              <a:t>provider info</a:t>
            </a:r>
            <a:endParaRPr lang="en-US"/>
          </a:p>
          <a:p>
            <a:pPr lvl="1"/>
            <a:r>
              <a:rPr lang="en-US"/>
              <a:t>entities list</a:t>
            </a:r>
            <a:endParaRPr lang="en-US"/>
          </a:p>
          <a:p>
            <a:pPr lvl="0"/>
            <a:r>
              <a:rPr lang="en-US" altLang="en-US" sz="2400"/>
              <a:t>&lt;persistence-unit name="myPU"&gt;</a:t>
            </a:r>
            <a:br>
              <a:rPr lang="en-US" altLang="en-US" sz="2400"/>
            </a:br>
            <a:r>
              <a:rPr lang="en-US" altLang="en-US" sz="2400"/>
              <a:t>	&lt;provider&gt;</a:t>
            </a:r>
            <a:endParaRPr lang="en-US" altLang="en-US" sz="2400"/>
          </a:p>
          <a:p>
            <a:pPr marL="914400" lvl="2" indent="0">
              <a:buNone/>
            </a:pPr>
            <a:r>
              <a:rPr lang="en-US" altLang="en-US" sz="1800"/>
              <a:t>org.hibernate.jpa.HibernatePersistenceProvider</a:t>
            </a:r>
            <a:endParaRPr lang="en-US" altLang="en-US" sz="1800"/>
          </a:p>
          <a:p>
            <a:pPr marL="914400" lvl="2" indent="0">
              <a:buNone/>
            </a:pPr>
            <a:r>
              <a:rPr lang="en-US" altLang="en-US" sz="2400"/>
              <a:t>&lt;/provide&gt;</a:t>
            </a:r>
            <a:endParaRPr lang="en-US" altLang="en-US" sz="2400"/>
          </a:p>
          <a:p>
            <a:pPr lvl="0"/>
            <a:r>
              <a:rPr lang="en-US" altLang="en-US" sz="2400"/>
              <a:t>&lt;/persistence-unit&gt;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4. Persistence Context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set of managed entity objects.</a:t>
            </a:r>
            <a:endParaRPr lang="en-US"/>
          </a:p>
          <a:p>
            <a:r>
              <a:rPr lang="en-US"/>
              <a:t>it tacks :</a:t>
            </a:r>
            <a:endParaRPr lang="en-US"/>
          </a:p>
          <a:p>
            <a:pPr lvl="1"/>
            <a:r>
              <a:rPr lang="en-US"/>
              <a:t>new objects</a:t>
            </a:r>
            <a:endParaRPr lang="en-US"/>
          </a:p>
          <a:p>
            <a:pPr lvl="1"/>
            <a:r>
              <a:rPr lang="en-US"/>
              <a:t>updated objects</a:t>
            </a:r>
            <a:endParaRPr lang="en-US"/>
          </a:p>
          <a:p>
            <a:pPr lvl="1"/>
            <a:r>
              <a:rPr lang="en-US"/>
              <a:t>removed objects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5. JPA Provider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implementation of JPA Specification.</a:t>
            </a:r>
            <a:endParaRPr lang="en-US"/>
          </a:p>
          <a:p>
            <a:r>
              <a:rPr lang="en-US"/>
              <a:t>popular ones :</a:t>
            </a:r>
            <a:endParaRPr lang="en-US"/>
          </a:p>
          <a:p>
            <a:pPr lvl="1"/>
            <a:r>
              <a:rPr lang="en-US"/>
              <a:t>Hibernate</a:t>
            </a:r>
            <a:endParaRPr lang="en-US"/>
          </a:p>
          <a:p>
            <a:pPr lvl="1"/>
            <a:r>
              <a:rPr lang="en-US"/>
              <a:t>EclipseLink</a:t>
            </a:r>
            <a:endParaRPr lang="en-US"/>
          </a:p>
          <a:p>
            <a:pPr lvl="1"/>
            <a:r>
              <a:rPr lang="en-US"/>
              <a:t>OpenJPA</a:t>
            </a:r>
            <a:endParaRPr lang="en-US"/>
          </a:p>
          <a:p>
            <a:pPr lvl="0"/>
            <a:r>
              <a:rPr lang="en-US"/>
              <a:t>Converts Java Operations -&gt; SQL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6. Database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Which final strong Layer :</a:t>
            </a:r>
            <a:endParaRPr lang="en-US"/>
          </a:p>
          <a:p>
            <a:pPr lvl="1"/>
            <a:r>
              <a:rPr lang="en-US"/>
              <a:t>MySQL</a:t>
            </a:r>
            <a:endParaRPr lang="en-US"/>
          </a:p>
          <a:p>
            <a:pPr lvl="1"/>
            <a:r>
              <a:rPr lang="en-US"/>
              <a:t>Oracle</a:t>
            </a:r>
            <a:endParaRPr lang="en-US"/>
          </a:p>
          <a:p>
            <a:pPr lvl="1"/>
            <a:r>
              <a:rPr lang="en-US"/>
              <a:t>PostgreSQL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Entity Lifecyle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States of Entity :</a:t>
            </a:r>
            <a:endParaRPr lang="en-US"/>
          </a:p>
          <a:p>
            <a:pPr lvl="1"/>
            <a:r>
              <a:rPr lang="en-US"/>
              <a:t>New</a:t>
            </a:r>
            <a:endParaRPr lang="en-US"/>
          </a:p>
          <a:p>
            <a:pPr lvl="1"/>
            <a:r>
              <a:rPr lang="en-US"/>
              <a:t>Managed</a:t>
            </a:r>
            <a:endParaRPr lang="en-US"/>
          </a:p>
          <a:p>
            <a:pPr lvl="1"/>
            <a:r>
              <a:rPr lang="en-US"/>
              <a:t>Detached</a:t>
            </a:r>
            <a:endParaRPr lang="en-US"/>
          </a:p>
          <a:p>
            <a:pPr lvl="1"/>
            <a:r>
              <a:rPr lang="en-US"/>
              <a:t>Removed</a:t>
            </a:r>
            <a:endParaRPr lang="en-US"/>
          </a:p>
          <a:p>
            <a:pPr lvl="0"/>
            <a:r>
              <a:rPr lang="en-US" sz="2800"/>
              <a:t>Example :</a:t>
            </a:r>
            <a:endParaRPr lang="en-US" sz="2800"/>
          </a:p>
          <a:p>
            <a:pPr lvl="1"/>
            <a:r>
              <a:rPr lang="en-US" sz="2400"/>
              <a:t>em.persist(user); //managed</a:t>
            </a:r>
            <a:endParaRPr lang="en-US" sz="2400"/>
          </a:p>
          <a:p>
            <a:pPr lvl="1"/>
            <a:r>
              <a:rPr lang="en-US" sz="2400"/>
              <a:t>em.remove(user); //removed</a:t>
            </a: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EntityManager Methods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6485" y="1691640"/>
            <a:ext cx="8304530" cy="38284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JPQL  - Java Persistence Query Language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similar to SQL but works on objects.</a:t>
            </a:r>
            <a:endParaRPr lang="en-US"/>
          </a:p>
          <a:p>
            <a:r>
              <a:rPr lang="en-US"/>
              <a:t>Example :</a:t>
            </a:r>
            <a:endParaRPr lang="en-US"/>
          </a:p>
          <a:p>
            <a:pPr lvl="1"/>
            <a:r>
              <a:rPr lang="en-US"/>
              <a:t>SELECT u FROM User u</a:t>
            </a:r>
            <a:endParaRPr lang="en-US"/>
          </a:p>
          <a:p>
            <a:pPr lvl="0"/>
            <a:r>
              <a:rPr lang="en-US"/>
              <a:t>Not :</a:t>
            </a:r>
            <a:endParaRPr lang="en-US"/>
          </a:p>
          <a:p>
            <a:pPr lvl="1"/>
            <a:r>
              <a:rPr lang="en-US"/>
              <a:t>SELECT * FROM USER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JDBC vs JPA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0570" y="1462405"/>
            <a:ext cx="9045575" cy="4295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JPA in EJB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@Stateless</a:t>
            </a:r>
            <a:endParaRPr lang="en-US"/>
          </a:p>
          <a:p>
            <a:pPr marL="0" indent="0">
              <a:buNone/>
            </a:pPr>
            <a:r>
              <a:rPr lang="en-US"/>
              <a:t>public class UserServcie{</a:t>
            </a: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@PersistenceContext</a:t>
            </a:r>
            <a:endParaRPr lang="en-US"/>
          </a:p>
          <a:p>
            <a:pPr marL="457200" lvl="1" indent="0">
              <a:buNone/>
            </a:pPr>
            <a:r>
              <a:rPr lang="en-US"/>
              <a:t>EntityManager em;</a:t>
            </a:r>
            <a:endParaRPr lang="en-US"/>
          </a:p>
          <a:p>
            <a:pPr marL="0" lvl="0" indent="0">
              <a:buNone/>
            </a:pPr>
            <a:r>
              <a:rPr lang="en-US"/>
              <a:t>}</a:t>
            </a:r>
            <a:endParaRPr lang="en-US"/>
          </a:p>
          <a:p>
            <a:pPr marL="0" lvl="0" indent="0">
              <a:buNone/>
            </a:pPr>
            <a:endParaRPr lang="en-US"/>
          </a:p>
          <a:p>
            <a:pPr marL="0" lvl="0" indent="0">
              <a:buNone/>
            </a:pPr>
            <a:r>
              <a:rPr lang="en-US"/>
              <a:t>Note : Container injects EntityManager Automatically.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 : JPA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no manual SQL</a:t>
            </a:r>
            <a:endParaRPr lang="en-US"/>
          </a:p>
          <a:p>
            <a:r>
              <a:rPr lang="en-US"/>
              <a:t>automatic mapping</a:t>
            </a:r>
            <a:endParaRPr lang="en-US"/>
          </a:p>
          <a:p>
            <a:r>
              <a:rPr lang="en-US"/>
              <a:t>cleaner code </a:t>
            </a:r>
            <a:endParaRPr lang="en-US"/>
          </a:p>
          <a:p>
            <a:r>
              <a:rPr lang="en-US"/>
              <a:t>portable</a:t>
            </a:r>
            <a:endParaRPr lang="en-US"/>
          </a:p>
          <a:p>
            <a:r>
              <a:rPr lang="en-US"/>
              <a:t>database independent</a:t>
            </a:r>
            <a:endParaRPr lang="en-US"/>
          </a:p>
          <a:p>
            <a:r>
              <a:rPr lang="en-US"/>
              <a:t>caching support</a:t>
            </a:r>
            <a:endParaRPr lang="en-US"/>
          </a:p>
          <a:p>
            <a:r>
              <a:rPr lang="en-US"/>
              <a:t>transaction support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Disadvantages : JPA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learning curve is complex</a:t>
            </a:r>
            <a:endParaRPr lang="en-US"/>
          </a:p>
          <a:p>
            <a:r>
              <a:rPr lang="en-US"/>
              <a:t>hidden SQL sometimes confusing </a:t>
            </a:r>
            <a:endParaRPr lang="en-US"/>
          </a:p>
          <a:p>
            <a:r>
              <a:rPr lang="en-US"/>
              <a:t>complex joins harder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ORM with an Entites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JAVA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Definition : 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ORM refers to Object relational Mapping is a technique used to map Java Objects (Entities) to database tables automatically using JPA.</a:t>
            </a:r>
            <a:endParaRPr lang="en-US"/>
          </a:p>
          <a:p>
            <a:r>
              <a:rPr lang="en-US"/>
              <a:t>an Entity is a Java class annotated with : @Entity</a:t>
            </a:r>
            <a:endParaRPr lang="en-US"/>
          </a:p>
          <a:p>
            <a:r>
              <a:rPr lang="en-US"/>
              <a:t>Let’s see an example...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Basic Entity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1130"/>
            <a:ext cx="10515600" cy="5189855"/>
          </a:xfrm>
        </p:spPr>
        <p:txBody>
          <a:bodyPr>
            <a:normAutofit fontScale="80000"/>
          </a:bodyPr>
          <a:p>
            <a:r>
              <a:rPr lang="en-US"/>
              <a:t>import javax.persistence.*;</a:t>
            </a:r>
            <a:endParaRPr lang="en-US"/>
          </a:p>
          <a:p>
            <a:endParaRPr lang="en-US"/>
          </a:p>
          <a:p>
            <a:r>
              <a:rPr lang="en-US"/>
              <a:t>@Entity</a:t>
            </a:r>
            <a:endParaRPr lang="en-US"/>
          </a:p>
          <a:p>
            <a:r>
              <a:rPr lang="en-US"/>
              <a:t>@Table(name = “users”)</a:t>
            </a:r>
            <a:endParaRPr lang="en-US"/>
          </a:p>
          <a:p>
            <a:r>
              <a:rPr lang="en-US"/>
              <a:t>public class User{</a:t>
            </a:r>
            <a:endParaRPr lang="en-US"/>
          </a:p>
          <a:p>
            <a:pPr lvl="1"/>
            <a:r>
              <a:rPr lang="en-US"/>
              <a:t>@Id</a:t>
            </a:r>
            <a:endParaRPr lang="en-US"/>
          </a:p>
          <a:p>
            <a:pPr lvl="1"/>
            <a:r>
              <a:rPr lang="en-US"/>
              <a:t>private int id;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@column(name = “username”)</a:t>
            </a:r>
            <a:endParaRPr lang="en-US"/>
          </a:p>
          <a:p>
            <a:pPr lvl="1"/>
            <a:r>
              <a:rPr lang="en-US"/>
              <a:t>private String name;</a:t>
            </a:r>
            <a:endParaRPr lang="en-US"/>
          </a:p>
          <a:p>
            <a:pPr lvl="1"/>
            <a:r>
              <a:rPr lang="en-US"/>
              <a:t>private String email;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//getters and setters</a:t>
            </a:r>
            <a:endParaRPr lang="en-US"/>
          </a:p>
          <a:p>
            <a:pPr lvl="0"/>
            <a:r>
              <a:rPr lang="en-US"/>
              <a:t>}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Mapping Extension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@Entity -&gt; Table</a:t>
            </a:r>
            <a:endParaRPr lang="en-US"/>
          </a:p>
          <a:p>
            <a:r>
              <a:rPr lang="en-US"/>
              <a:t>@Id -&gt; Primary Key</a:t>
            </a:r>
            <a:endParaRPr lang="en-US"/>
          </a:p>
          <a:p>
            <a:r>
              <a:rPr lang="en-US"/>
              <a:t>@Feild -&gt; Column</a:t>
            </a:r>
            <a:endParaRPr lang="en-US"/>
          </a:p>
          <a:p>
            <a:r>
              <a:rPr lang="en-US"/>
              <a:t>@Object -&gt; Row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Important JPA Mapping Annotations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@Entity : Makrs class as database entity.</a:t>
            </a:r>
            <a:endParaRPr lang="en-US"/>
          </a:p>
          <a:p>
            <a:r>
              <a:rPr lang="en-US"/>
              <a:t>@Table : Specifies table name</a:t>
            </a:r>
            <a:endParaRPr lang="en-US"/>
          </a:p>
          <a:p>
            <a:pPr lvl="1"/>
            <a:r>
              <a:rPr lang="en-US"/>
              <a:t>@Table(name = “users”)</a:t>
            </a:r>
            <a:endParaRPr lang="en-US"/>
          </a:p>
          <a:p>
            <a:pPr lvl="0"/>
            <a:r>
              <a:rPr lang="en-US"/>
              <a:t>@Id : primary key</a:t>
            </a:r>
            <a:endParaRPr lang="en-US"/>
          </a:p>
          <a:p>
            <a:pPr lvl="0"/>
            <a:r>
              <a:rPr lang="en-US"/>
              <a:t>@GeneratedValue : Auto increment ID</a:t>
            </a:r>
            <a:endParaRPr lang="en-US"/>
          </a:p>
          <a:p>
            <a:pPr lvl="1"/>
            <a:r>
              <a:rPr lang="en-US" sz="2400"/>
              <a:t>@generatedValue(startegy - GenerationType.IDENTITY)</a:t>
            </a:r>
            <a:endParaRPr lang="en-US" sz="2400"/>
          </a:p>
          <a:p>
            <a:pPr lvl="0"/>
            <a:r>
              <a:rPr lang="en-US" sz="2800"/>
              <a:t>@Column : custom column mapping.</a:t>
            </a:r>
            <a:endParaRPr lang="en-US" sz="2800"/>
          </a:p>
          <a:p>
            <a:pPr lvl="1"/>
            <a:r>
              <a:rPr lang="en-US" sz="2400"/>
              <a:t>@Column(nullable = false, unique = true)</a:t>
            </a:r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Relationship Mapping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1. One to One</a:t>
            </a:r>
            <a:endParaRPr lang="en-US"/>
          </a:p>
          <a:p>
            <a:pPr lvl="1"/>
            <a:r>
              <a:rPr lang="en-US"/>
              <a:t>@OneToOne</a:t>
            </a:r>
            <a:endParaRPr lang="en-US"/>
          </a:p>
          <a:p>
            <a:pPr lvl="1"/>
            <a:r>
              <a:rPr lang="en-US"/>
              <a:t>@JoinColumn(name = “profile_Id”)</a:t>
            </a:r>
            <a:endParaRPr lang="en-US"/>
          </a:p>
          <a:p>
            <a:pPr lvl="1"/>
            <a:r>
              <a:rPr lang="en-US"/>
              <a:t>private Profile profile</a:t>
            </a:r>
            <a:endParaRPr lang="en-US"/>
          </a:p>
          <a:p>
            <a:pPr lvl="0"/>
            <a:r>
              <a:rPr lang="en-US"/>
              <a:t>One user -&gt; One profile.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2. One to Many</a:t>
            </a:r>
            <a:endParaRPr lang="en-US"/>
          </a:p>
          <a:p>
            <a:pPr lvl="1"/>
            <a:r>
              <a:rPr lang="en-US"/>
              <a:t>@OneToMany(mappedBy = “user”)</a:t>
            </a:r>
            <a:endParaRPr lang="en-US"/>
          </a:p>
          <a:p>
            <a:pPr lvl="1"/>
            <a:r>
              <a:rPr lang="en-US"/>
              <a:t>private List&lt;Order&gt; orders;</a:t>
            </a:r>
            <a:endParaRPr lang="en-US"/>
          </a:p>
          <a:p>
            <a:pPr lvl="0"/>
            <a:r>
              <a:rPr lang="en-US"/>
              <a:t>One user -&gt; Many Orders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Relationship Mapping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3. Many to One</a:t>
            </a:r>
            <a:endParaRPr lang="en-US"/>
          </a:p>
          <a:p>
            <a:pPr lvl="1"/>
            <a:r>
              <a:rPr lang="en-US"/>
              <a:t>@ManyToOne</a:t>
            </a:r>
            <a:endParaRPr lang="en-US"/>
          </a:p>
          <a:p>
            <a:pPr lvl="1"/>
            <a:r>
              <a:rPr lang="en-US"/>
              <a:t>@JoinColumn(name = “user_id”)</a:t>
            </a:r>
            <a:endParaRPr lang="en-US"/>
          </a:p>
          <a:p>
            <a:pPr lvl="1"/>
            <a:r>
              <a:rPr lang="en-US"/>
              <a:t>private User user;</a:t>
            </a:r>
            <a:endParaRPr lang="en-US"/>
          </a:p>
          <a:p>
            <a:pPr lvl="0"/>
            <a:r>
              <a:rPr lang="en-US" sz="2800"/>
              <a:t>Many orders -&gt; One user</a:t>
            </a:r>
            <a:endParaRPr lang="en-US" sz="2800"/>
          </a:p>
          <a:p>
            <a:pPr lvl="0"/>
            <a:endParaRPr lang="en-US" sz="2800"/>
          </a:p>
          <a:p>
            <a:pPr lvl="0"/>
            <a:r>
              <a:rPr lang="en-US" sz="2800"/>
              <a:t>4. Many to Many</a:t>
            </a:r>
            <a:endParaRPr lang="en-US" sz="2800"/>
          </a:p>
          <a:p>
            <a:pPr lvl="1"/>
            <a:r>
              <a:rPr lang="en-US" sz="2400"/>
              <a:t>@ManyToMany</a:t>
            </a:r>
            <a:endParaRPr lang="en-US" sz="2400"/>
          </a:p>
          <a:p>
            <a:pPr lvl="1"/>
            <a:r>
              <a:rPr lang="en-US" sz="2400"/>
              <a:t>@JoinTable(name = “user_role”)</a:t>
            </a:r>
            <a:endParaRPr lang="en-US" sz="2400"/>
          </a:p>
          <a:p>
            <a:pPr lvl="0"/>
            <a:r>
              <a:rPr lang="en-US" sz="2800"/>
              <a:t>Many users &lt;---&gt; Many roles</a:t>
            </a:r>
            <a:endParaRPr lang="en-US"/>
          </a:p>
          <a:p>
            <a:pPr lvl="1"/>
            <a:endParaRPr lang="en-US"/>
          </a:p>
          <a:p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Named Queries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JAVA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Definition : Named Queries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Named Query is a pre-defined, static JPQL query defined using annotations or XML and indentified by a unique name.</a:t>
            </a:r>
            <a:endParaRPr lang="en-US"/>
          </a:p>
          <a:p>
            <a:r>
              <a:rPr lang="en-US"/>
              <a:t>which provides :</a:t>
            </a:r>
            <a:endParaRPr lang="en-US"/>
          </a:p>
          <a:p>
            <a:pPr lvl="1"/>
            <a:r>
              <a:rPr lang="en-US" sz="2400"/>
              <a:t>Defined ones</a:t>
            </a:r>
            <a:endParaRPr lang="en-US" sz="2400"/>
          </a:p>
          <a:p>
            <a:pPr lvl="1"/>
            <a:r>
              <a:rPr lang="en-US" sz="2400"/>
              <a:t>call by name</a:t>
            </a:r>
            <a:endParaRPr lang="en-US" sz="2400"/>
          </a:p>
          <a:p>
            <a:pPr lvl="1"/>
            <a:r>
              <a:rPr lang="en-US" sz="2400"/>
              <a:t>clean</a:t>
            </a:r>
            <a:endParaRPr lang="en-US" sz="2400"/>
          </a:p>
          <a:p>
            <a:pPr lvl="1"/>
            <a:r>
              <a:rPr lang="en-US" sz="2400"/>
              <a:t>reusable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Flow : Where Named Queries Resides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Entity</a:t>
            </a:r>
            <a:endParaRPr lang="en-US"/>
          </a:p>
          <a:p>
            <a:r>
              <a:rPr lang="en-US"/>
              <a:t>Named Query Defined</a:t>
            </a:r>
            <a:endParaRPr lang="en-US"/>
          </a:p>
          <a:p>
            <a:r>
              <a:rPr lang="en-US"/>
              <a:t>EntityManager calls by name</a:t>
            </a:r>
            <a:endParaRPr lang="en-US"/>
          </a:p>
          <a:p>
            <a:r>
              <a:rPr lang="en-US"/>
              <a:t>Provider (like Hibernate)</a:t>
            </a:r>
            <a:endParaRPr lang="en-US"/>
          </a:p>
          <a:p>
            <a:r>
              <a:rPr lang="en-US"/>
              <a:t>Database</a:t>
            </a:r>
            <a:endParaRPr lang="en-US"/>
          </a:p>
          <a:p>
            <a:r>
              <a:rPr lang="en-US"/>
              <a:t>How to is defining ? </a:t>
            </a:r>
            <a:endParaRPr lang="en-US"/>
          </a:p>
          <a:p>
            <a:pPr lvl="1"/>
            <a:r>
              <a:rPr lang="en-US"/>
              <a:t>@NamedQuery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Basic Example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/>
              <a:t>@Entity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@NamedQuery( name = "User.findAll",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query = "SELECT u FROM User u" )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public class User {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@Id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private int id;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private String name; 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List&lt;User&gt; list =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   em.createNamedQuery("User.findAll", User.class)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     .getResultList();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Named Query with Parameters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@NamedQuery(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name = "User.findByName",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query = "SELECT u FROM User u WHERE u.name = :name"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)</a:t>
            </a:r>
            <a:endParaRPr lang="en-US" altLang="en-US"/>
          </a:p>
          <a:p>
            <a:r>
              <a:rPr lang="en-US" altLang="en-US"/>
              <a:t>//Calling it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User user = em.createNamedQuery("User.findByName", User.class)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.setParameter("name", "Ruta")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.getSingleResult();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Multiple Named Query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@NamedQueries({</a:t>
            </a:r>
            <a:endParaRPr lang="en-US" altLang="en-US"/>
          </a:p>
          <a:p>
            <a:r>
              <a:rPr lang="en-US" altLang="en-US"/>
              <a:t>   @NamedQuery(name="User.findAll",</a:t>
            </a:r>
            <a:endParaRPr lang="en-US" altLang="en-US"/>
          </a:p>
          <a:p>
            <a:r>
              <a:rPr lang="en-US" altLang="en-US"/>
              <a:t>               query="SELECT u FROM User u"),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@NamedQuery(name="User.findByEmail",</a:t>
            </a:r>
            <a:endParaRPr lang="en-US" altLang="en-US"/>
          </a:p>
          <a:p>
            <a:r>
              <a:rPr lang="en-US" altLang="en-US"/>
              <a:t>               query="SELECT u FROM User u WHERE u.email = :email")</a:t>
            </a:r>
            <a:endParaRPr lang="en-US" altLang="en-US"/>
          </a:p>
          <a:p>
            <a:r>
              <a:rPr lang="en-US" altLang="en-US"/>
              <a:t>})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Types of Named Queries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1. Named Query (JPQL)</a:t>
            </a:r>
            <a:endParaRPr lang="en-US"/>
          </a:p>
          <a:p>
            <a:pPr lvl="1"/>
            <a:r>
              <a:rPr lang="en-US"/>
              <a:t>work on entites</a:t>
            </a:r>
            <a:endParaRPr lang="en-US"/>
          </a:p>
          <a:p>
            <a:pPr lvl="1"/>
            <a:r>
              <a:rPr lang="en-US" altLang="en-US"/>
              <a:t>SELECT u FROM User u</a:t>
            </a:r>
            <a:endParaRPr lang="en-US" altLang="en-US"/>
          </a:p>
          <a:p>
            <a:pPr lvl="0"/>
            <a:endParaRPr lang="en-US" altLang="en-US"/>
          </a:p>
          <a:p>
            <a:pPr lvl="0"/>
            <a:r>
              <a:rPr lang="en-US" altLang="en-US"/>
              <a:t>2. Named Native Queies </a:t>
            </a:r>
            <a:endParaRPr lang="en-US" altLang="en-US"/>
          </a:p>
          <a:p>
            <a:pPr lvl="1"/>
            <a:r>
              <a:rPr lang="en-US" altLang="en-US"/>
              <a:t>uses native SQL</a:t>
            </a:r>
            <a:endParaRPr lang="en-US" altLang="en-US"/>
          </a:p>
          <a:p>
            <a:pPr lvl="1"/>
            <a:r>
              <a:rPr lang="en-US" altLang="en-US"/>
              <a:t>@NamedNativeQuery(</a:t>
            </a:r>
            <a:endParaRPr lang="en-US" altLang="en-US"/>
          </a:p>
          <a:p>
            <a:pPr lvl="1"/>
            <a:r>
              <a:rPr lang="en-US" altLang="en-US"/>
              <a:t>   name="User.nativeQuery",</a:t>
            </a:r>
            <a:endParaRPr lang="en-US" altLang="en-US"/>
          </a:p>
          <a:p>
            <a:pPr lvl="1"/>
            <a:r>
              <a:rPr lang="en-US" altLang="en-US"/>
              <a:t>   query="SELECT * FROM users",</a:t>
            </a:r>
            <a:endParaRPr lang="en-US" altLang="en-US"/>
          </a:p>
          <a:p>
            <a:pPr lvl="1"/>
            <a:r>
              <a:rPr lang="en-US" altLang="en-US"/>
              <a:t>   resultClass=User.class</a:t>
            </a:r>
            <a:endParaRPr lang="en-US" altLang="en-US"/>
          </a:p>
          <a:p>
            <a:pPr lvl="1"/>
            <a:r>
              <a:rPr lang="en-US" altLang="en-US"/>
              <a:t>)</a:t>
            </a: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560705"/>
            <a:ext cx="10550525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Dynamic and Native Queries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JAVA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 Java Persistence API (JPA), data is retrieved from the database using queries. There are mainly two advanced query types:</a:t>
            </a:r>
            <a:endParaRPr lang="en-US" altLang="en-US"/>
          </a:p>
          <a:p>
            <a:r>
              <a:rPr lang="en-US" altLang="en-US"/>
              <a:t>Dynamic Queries</a:t>
            </a:r>
            <a:endParaRPr lang="en-US" altLang="en-US"/>
          </a:p>
          <a:p>
            <a:r>
              <a:rPr lang="en-US" altLang="en-US"/>
              <a:t>Native Queries</a:t>
            </a:r>
            <a:endParaRPr lang="en-US" altLang="en-US"/>
          </a:p>
          <a:p>
            <a:r>
              <a:rPr lang="en-US" altLang="en-US"/>
              <a:t>These help in fetching data based on different runtime conditions and complex database requirements.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Dynamic Queries in JPA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Dynamic queries are queries that are built at runtime based on conditions provided by the user.</a:t>
            </a:r>
            <a:endParaRPr lang="en-US" altLang="en-US"/>
          </a:p>
          <a:p>
            <a:r>
              <a:rPr lang="en-US" altLang="en-US"/>
              <a:t>They are useful when:</a:t>
            </a:r>
            <a:endParaRPr lang="en-US" altLang="en-US"/>
          </a:p>
          <a:p>
            <a:pPr lvl="1"/>
            <a:r>
              <a:rPr lang="en-US" altLang="en-US"/>
              <a:t>Search filters change dynamically</a:t>
            </a:r>
            <a:endParaRPr lang="en-US" altLang="en-US"/>
          </a:p>
          <a:p>
            <a:pPr lvl="1"/>
            <a:r>
              <a:rPr lang="en-US" altLang="en-US"/>
              <a:t>Conditions are optional</a:t>
            </a:r>
            <a:endParaRPr lang="en-US" altLang="en-US"/>
          </a:p>
          <a:p>
            <a:pPr lvl="1"/>
            <a:r>
              <a:rPr lang="en-US" altLang="en-US"/>
              <a:t>Query structure depends on input</a:t>
            </a:r>
            <a:endParaRPr lang="en-US" altLang="en-US"/>
          </a:p>
          <a:p>
            <a:pPr lvl="0"/>
            <a:r>
              <a:rPr lang="en-US" altLang="en-US"/>
              <a:t>How It Is Created</a:t>
            </a:r>
            <a:endParaRPr lang="en-US" altLang="en-US"/>
          </a:p>
          <a:p>
            <a:pPr lvl="1"/>
            <a:r>
              <a:rPr lang="en-US" altLang="en-US"/>
              <a:t>Dynamic queries are usually created using:</a:t>
            </a:r>
            <a:endParaRPr lang="en-US" altLang="en-US"/>
          </a:p>
          <a:p>
            <a:pPr lvl="2"/>
            <a:r>
              <a:rPr lang="en-US" altLang="en-US"/>
              <a:t>JPQL (Java Persistence Query Language)</a:t>
            </a:r>
            <a:endParaRPr lang="en-US" altLang="en-US"/>
          </a:p>
          <a:p>
            <a:pPr lvl="2"/>
            <a:r>
              <a:rPr lang="en-US" altLang="en-US"/>
              <a:t>Criteria API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: JPQL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</a:pPr>
            <a:r>
              <a:rPr lang="en-US" altLang="en-US"/>
              <a:t>String jpql = "SELECT s FROM Student s WHERE s.age &gt; :age";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TypedQuery&lt;Student&gt; query = entityManager.createQuery(jpql, Student.class);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query.setParameter("age", 20);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List&lt;Student&gt; students = query.getResultList();</a:t>
            </a:r>
            <a:endParaRPr lang="en-US" altLang="en-US"/>
          </a:p>
          <a:p>
            <a:pPr lvl="1"/>
            <a:r>
              <a:rPr lang="en-US" altLang="en-US"/>
              <a:t>Here, :age is a parameter passed dynamically.</a:t>
            </a: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 using Criteria API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CriteriaBuilder cb = entityManager.getCriteriaBuilder();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CriteriaQuery&lt;Student&gt; cq = cb.createQuery(Student.class);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Root&lt;Student&gt; root = cq.from(Student.class);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cq.select(root).where(cb.greaterThan(root.get("age"), 20));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List&lt;Student&gt; result = entityManager.createQuery(cq).getResultList();</a:t>
            </a:r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 of Dynamic Queries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Flexible</a:t>
            </a:r>
            <a:endParaRPr lang="en-US"/>
          </a:p>
          <a:p>
            <a:r>
              <a:rPr lang="en-US"/>
              <a:t>Type - Safe (Especially Criteria API)</a:t>
            </a:r>
            <a:endParaRPr lang="en-US"/>
          </a:p>
          <a:p>
            <a:r>
              <a:rPr lang="en-US"/>
              <a:t>Databaase Independent</a:t>
            </a:r>
            <a:endParaRPr lang="en-US"/>
          </a:p>
          <a:p>
            <a:r>
              <a:rPr lang="en-US"/>
              <a:t>Safe from SQL Injection (when parameters used properly)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Native Queries in JPA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Native queries are direct SQL queries written in database-specific SQL syntax.</a:t>
            </a:r>
            <a:endParaRPr lang="en-US" altLang="en-US"/>
          </a:p>
          <a:p>
            <a:r>
              <a:rPr lang="en-US" altLang="en-US"/>
              <a:t>They are used when:</a:t>
            </a:r>
            <a:endParaRPr lang="en-US" altLang="en-US"/>
          </a:p>
          <a:p>
            <a:pPr lvl="1"/>
            <a:r>
              <a:rPr lang="en-US" altLang="en-US"/>
              <a:t>Complex joins are required</a:t>
            </a:r>
            <a:endParaRPr lang="en-US" altLang="en-US"/>
          </a:p>
          <a:p>
            <a:pPr lvl="1"/>
            <a:r>
              <a:rPr lang="en-US" altLang="en-US"/>
              <a:t>Stored procedures are used</a:t>
            </a:r>
            <a:endParaRPr lang="en-US" altLang="en-US"/>
          </a:p>
          <a:p>
            <a:pPr lvl="1"/>
            <a:r>
              <a:rPr lang="en-US" altLang="en-US"/>
              <a:t>Database-specific functions are needed</a:t>
            </a:r>
            <a:endParaRPr lang="en-US" altLang="en-US"/>
          </a:p>
          <a:p>
            <a:pPr lvl="1"/>
            <a:r>
              <a:rPr lang="en-US" altLang="en-US"/>
              <a:t>Performance optimization is required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-568960" y="3636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Query query = entityManager.createNativeQuery(</a:t>
            </a:r>
            <a:endParaRPr lang="en-US" altLang="en-US"/>
          </a:p>
          <a:p>
            <a:r>
              <a:rPr lang="en-US" altLang="en-US"/>
              <a:t>    "SELECT * FROM student WHERE age &gt; ?",</a:t>
            </a:r>
            <a:endParaRPr lang="en-US" altLang="en-US"/>
          </a:p>
          <a:p>
            <a:r>
              <a:rPr lang="en-US" altLang="en-US"/>
              <a:t>    Student.class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query.setParameter(1, 20);</a:t>
            </a:r>
            <a:endParaRPr lang="en-US" altLang="en-US"/>
          </a:p>
          <a:p>
            <a:r>
              <a:rPr lang="en-US" altLang="en-US"/>
              <a:t>List&lt;Student&gt; students = query.getResultList();</a:t>
            </a:r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Advantages of Native Queries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Full control over SQL</a:t>
            </a:r>
            <a:endParaRPr lang="en-US" altLang="en-US"/>
          </a:p>
          <a:p>
            <a:r>
              <a:rPr lang="en-US" altLang="en-US"/>
              <a:t>Supports complex queries</a:t>
            </a:r>
            <a:endParaRPr lang="en-US" altLang="en-US"/>
          </a:p>
          <a:p>
            <a:r>
              <a:rPr lang="en-US" altLang="en-US"/>
              <a:t>Can use database-specific features</a:t>
            </a: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Disadvantages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Not database independent</a:t>
            </a:r>
            <a:endParaRPr lang="en-US" altLang="en-US"/>
          </a:p>
          <a:p>
            <a:r>
              <a:rPr lang="en-US" altLang="en-US"/>
              <a:t>Less portable</a:t>
            </a:r>
            <a:endParaRPr lang="en-US" altLang="en-US"/>
          </a:p>
          <a:p>
            <a:r>
              <a:rPr lang="en-US" altLang="en-US"/>
              <a:t>Can lead to SQL injection if not handled carefully</a:t>
            </a:r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Difference between Dynamic and Native Queries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430020"/>
            <a:ext cx="10714990" cy="391541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Roles in REST API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In REST APIs:</a:t>
            </a:r>
            <a:endParaRPr lang="en-US" altLang="en-US"/>
          </a:p>
          <a:p>
            <a:pPr lvl="1"/>
            <a:r>
              <a:rPr lang="en-US" altLang="en-US"/>
              <a:t>Dynamic queries are used for filtering data based on request parameters</a:t>
            </a:r>
            <a:endParaRPr lang="en-US" altLang="en-US"/>
          </a:p>
          <a:p>
            <a:pPr lvl="1"/>
            <a:r>
              <a:rPr lang="en-US" altLang="en-US"/>
              <a:t>Example: /students?age=20</a:t>
            </a:r>
            <a:endParaRPr lang="en-US" altLang="en-US"/>
          </a:p>
          <a:p>
            <a:pPr lvl="1"/>
            <a:r>
              <a:rPr lang="en-US" altLang="en-US"/>
              <a:t>Native queries are used when:</a:t>
            </a:r>
            <a:endParaRPr lang="en-US" altLang="en-US"/>
          </a:p>
          <a:p>
            <a:pPr lvl="2"/>
            <a:r>
              <a:rPr lang="en-US" altLang="en-US"/>
              <a:t>Reporting APIs</a:t>
            </a:r>
            <a:endParaRPr lang="en-US" altLang="en-US"/>
          </a:p>
          <a:p>
            <a:pPr lvl="2"/>
            <a:r>
              <a:rPr lang="en-US" altLang="en-US"/>
              <a:t>Complex joins</a:t>
            </a:r>
            <a:endParaRPr lang="en-US" altLang="en-US"/>
          </a:p>
          <a:p>
            <a:pPr lvl="2"/>
            <a:r>
              <a:rPr lang="en-US" altLang="en-US"/>
              <a:t>Optimized database operations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REST controller calls the repository/service layer, which executes dynamic or native queries and returns JSON response.</a:t>
            </a: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REST Services with JAX-RS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Java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REST Services with JAX-RS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JAX-RS (Java API for RESTful Web Services) is a Java specification used to develop RESTful web services.</a:t>
            </a:r>
            <a:endParaRPr lang="en-US" altLang="en-US"/>
          </a:p>
          <a:p>
            <a:r>
              <a:rPr lang="en-US" altLang="en-US"/>
              <a:t>It simplifies REST development using annotations.</a:t>
            </a:r>
            <a:endParaRPr lang="en-US" altLang="en-US"/>
          </a:p>
          <a:p>
            <a:r>
              <a:rPr lang="en-US" altLang="en-US"/>
              <a:t>Popular implementation:</a:t>
            </a:r>
            <a:endParaRPr lang="en-US" altLang="en-US"/>
          </a:p>
          <a:p>
            <a:pPr lvl="1"/>
            <a:r>
              <a:rPr lang="en-US" altLang="en-US"/>
              <a:t>Jersey (Reference Implementation of JAX-RS)</a:t>
            </a:r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Key Features of JAX-RS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Annotation based configuration</a:t>
            </a:r>
            <a:endParaRPr lang="en-US"/>
          </a:p>
          <a:p>
            <a:r>
              <a:rPr lang="en-US"/>
              <a:t>Supports JSON and XML</a:t>
            </a:r>
            <a:endParaRPr lang="en-US"/>
          </a:p>
          <a:p>
            <a:r>
              <a:rPr lang="en-US"/>
              <a:t>Lightweight</a:t>
            </a:r>
            <a:endParaRPr lang="en-US"/>
          </a:p>
          <a:p>
            <a:r>
              <a:rPr lang="en-US"/>
              <a:t>Easy Integration with Java EE / Spring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Important Annotations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8210" y="1533525"/>
            <a:ext cx="7971790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Simple REST Service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030"/>
            <a:ext cx="10515600" cy="51987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/>
              <a:t>@Path("/students")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public class StudentService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@GET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@Produces(MediaType.APPLICATION_JSON)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List&lt;Student&gt; getStudents()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return studentList;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@POST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@Consumes(MediaType.APPLICATION_JSON)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public Response addStudent(Student s)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studentList.add(s);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return Response.status(201).build();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Clean Structure</a:t>
            </a:r>
            <a:endParaRPr lang="en-US"/>
          </a:p>
          <a:p>
            <a:r>
              <a:rPr lang="en-US"/>
              <a:t>Standard API</a:t>
            </a:r>
            <a:endParaRPr lang="en-US"/>
          </a:p>
          <a:p>
            <a:r>
              <a:rPr lang="en-US"/>
              <a:t>Platform Independent</a:t>
            </a:r>
            <a:endParaRPr lang="en-US"/>
          </a:p>
          <a:p>
            <a:r>
              <a:rPr lang="en-US"/>
              <a:t>Supprots REST Principals</a:t>
            </a:r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>
                <a:sym typeface="+mn-ea"/>
              </a:rPr>
              <a:t>Using HTTP Methods in REST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Java</a:t>
            </a:r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 u="sng"/>
              <a:t>REST works completely on HTTP protocol. Each HTTP method represents an operation on a resource.</a:t>
            </a:r>
            <a:endParaRPr lang="en-US" altLang="en-US" sz="3200" b="1" u="sng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776095"/>
            <a:ext cx="9231630" cy="36315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74090" y="5312410"/>
            <a:ext cx="2652395" cy="1245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b="1"/>
              <a:t>GET    /students</a:t>
            </a:r>
            <a:endParaRPr lang="en-US" altLang="en-US" b="1"/>
          </a:p>
          <a:p>
            <a:r>
              <a:rPr lang="en-US" altLang="en-US" b="1"/>
              <a:t>GET    /students/101</a:t>
            </a:r>
            <a:endParaRPr lang="en-US" altLang="en-US" b="1"/>
          </a:p>
          <a:p>
            <a:r>
              <a:rPr lang="en-US" altLang="en-US" b="1"/>
              <a:t>POST   /students</a:t>
            </a:r>
            <a:endParaRPr lang="en-US" altLang="en-US" b="1"/>
          </a:p>
          <a:p>
            <a:r>
              <a:rPr lang="en-US" altLang="en-US" b="1"/>
              <a:t>PUT    /students/101</a:t>
            </a:r>
            <a:endParaRPr lang="en-US" altLang="en-US" b="1"/>
          </a:p>
          <a:p>
            <a:r>
              <a:rPr lang="en-US" altLang="en-US" b="1"/>
              <a:t>DELETE /students/101</a:t>
            </a:r>
            <a:endParaRPr lang="en-US" b="1"/>
          </a:p>
        </p:txBody>
      </p:sp>
      <p:sp>
        <p:nvSpPr>
          <p:cNvPr id="7" name="Text Box 6"/>
          <p:cNvSpPr txBox="1"/>
          <p:nvPr/>
        </p:nvSpPr>
        <p:spPr>
          <a:xfrm>
            <a:off x="3738880" y="5443855"/>
            <a:ext cx="309245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/>
              <a:t>GET → Safe, does not modify data</a:t>
            </a:r>
            <a:endParaRPr sz="1600" b="1"/>
          </a:p>
          <a:p>
            <a:r>
              <a:rPr sz="1600" b="1"/>
              <a:t>POST → Creates new record</a:t>
            </a:r>
            <a:endParaRPr sz="1600" b="1"/>
          </a:p>
          <a:p>
            <a:r>
              <a:rPr sz="1600" b="1"/>
              <a:t>PUT → Updates existing record</a:t>
            </a:r>
            <a:endParaRPr sz="1600" b="1"/>
          </a:p>
          <a:p>
            <a:r>
              <a:rPr sz="1600" b="1"/>
              <a:t>DELETE → Deletes record</a:t>
            </a:r>
            <a:endParaRPr sz="1600" b="1"/>
          </a:p>
        </p:txBody>
      </p:sp>
      <p:sp>
        <p:nvSpPr>
          <p:cNvPr id="8" name="Text Box 7"/>
          <p:cNvSpPr txBox="1"/>
          <p:nvPr/>
        </p:nvSpPr>
        <p:spPr>
          <a:xfrm>
            <a:off x="6943725" y="5492750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Each method returns:</a:t>
            </a:r>
            <a:endParaRPr sz="1600" b="1"/>
          </a:p>
          <a:p>
            <a:endParaRPr sz="1600" b="1"/>
          </a:p>
          <a:p>
            <a:pPr>
              <a:buFont typeface="Arial" panose="020B0604020202020204"/>
              <a:buChar char="•"/>
            </a:pPr>
            <a:r>
              <a:rPr sz="1600" b="1"/>
              <a:t>Status codes (200, 201, 404, 500 etc.)</a:t>
            </a:r>
            <a:endParaRPr sz="1600" b="1"/>
          </a:p>
          <a:p>
            <a:pPr>
              <a:buFont typeface="Arial" panose="020B0604020202020204"/>
              <a:buChar char="•"/>
            </a:pPr>
            <a:r>
              <a:rPr sz="1600" b="1"/>
              <a:t>JSON/XML response</a:t>
            </a:r>
            <a:endParaRPr sz="1600" b="1"/>
          </a:p>
        </p:txBody>
      </p:sp>
      <p:sp>
        <p:nvSpPr>
          <p:cNvPr id="9" name="Text Box 8"/>
          <p:cNvSpPr txBox="1"/>
          <p:nvPr/>
        </p:nvSpPr>
        <p:spPr>
          <a:xfrm>
            <a:off x="9369425" y="1151890"/>
            <a:ext cx="250571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00" b="1"/>
              <a:t>IMPORTANCE : </a:t>
            </a:r>
            <a:endParaRPr sz="1600" b="1"/>
          </a:p>
          <a:p>
            <a:r>
              <a:rPr sz="1600" b="1"/>
              <a:t>Standard</a:t>
            </a:r>
            <a:endParaRPr sz="1600" b="1"/>
          </a:p>
          <a:p>
            <a:r>
              <a:rPr sz="1600" b="1"/>
              <a:t>Predictable</a:t>
            </a:r>
            <a:endParaRPr sz="1600" b="1"/>
          </a:p>
          <a:p>
            <a:r>
              <a:rPr sz="1600" b="1"/>
              <a:t>Easy to integrate</a:t>
            </a:r>
            <a:endParaRPr sz="1600" b="1"/>
          </a:p>
          <a:p>
            <a:r>
              <a:rPr sz="1600" b="1"/>
              <a:t>Follows REST architecture</a:t>
            </a:r>
            <a:endParaRPr sz="1600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JERSEY Client for REST Services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JAVA</a:t>
            </a:r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Jersey is not only used to create REST services but also to consume REST APIs using Jersey Client API.</a:t>
            </a:r>
            <a:endParaRPr lang="en-US" altLang="en-US"/>
          </a:p>
          <a:p>
            <a:r>
              <a:rPr lang="en-US" altLang="en-US"/>
              <a:t>It allows Java applications to call REST APIs easily.</a:t>
            </a:r>
            <a:endParaRPr lang="en-US" altLang="en-US"/>
          </a:p>
          <a:p>
            <a:r>
              <a:rPr lang="en-US" altLang="en-US" b="1" u="sng"/>
              <a:t>Steps to Use Jersey Client : </a:t>
            </a:r>
            <a:endParaRPr lang="en-US" altLang="en-US"/>
          </a:p>
          <a:p>
            <a:pPr lvl="1"/>
            <a:r>
              <a:rPr lang="en-US" altLang="en-US"/>
              <a:t>Create Client</a:t>
            </a:r>
            <a:endParaRPr lang="en-US" altLang="en-US"/>
          </a:p>
          <a:p>
            <a:pPr lvl="1"/>
            <a:r>
              <a:rPr lang="en-US" altLang="en-US"/>
              <a:t>Create WebTarget</a:t>
            </a:r>
            <a:endParaRPr lang="en-US" altLang="en-US"/>
          </a:p>
          <a:p>
            <a:pPr lvl="1"/>
            <a:r>
              <a:rPr lang="en-US" altLang="en-US"/>
              <a:t>Send Request</a:t>
            </a:r>
            <a:endParaRPr lang="en-US" altLang="en-US"/>
          </a:p>
          <a:p>
            <a:pPr lvl="1"/>
            <a:r>
              <a:rPr lang="en-US" altLang="en-US"/>
              <a:t>Get Response</a:t>
            </a:r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Client client = ClientBuilder.newClient();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WebTarget target = client.target("http://localhost:8080/students");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String response = target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.request(MediaType.APPLICATION_JSON)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.get(String.class);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System.out.println(response);</a:t>
            </a:r>
            <a:endParaRPr lang="en-US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POST Request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Response response = target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.request()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.post(Entity.json(studentObject));</a:t>
            </a:r>
            <a:endParaRPr lang="en-US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Easy REST consumption</a:t>
            </a:r>
            <a:endParaRPr lang="en-US" altLang="en-US"/>
          </a:p>
          <a:p>
            <a:r>
              <a:rPr lang="en-US" altLang="en-US"/>
              <a:t>Supports JSON/XML</a:t>
            </a:r>
            <a:endParaRPr lang="en-US" altLang="en-US"/>
          </a:p>
          <a:p>
            <a:r>
              <a:rPr lang="en-US" altLang="en-US"/>
              <a:t>Asynchronous calls possible</a:t>
            </a:r>
            <a:endParaRPr lang="en-US" altLang="en-US"/>
          </a:p>
          <a:p>
            <a:r>
              <a:rPr lang="en-US" altLang="en-US"/>
              <a:t>Lightweight</a:t>
            </a:r>
            <a:endParaRPr lang="en-US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Final Summary of Last Three 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JAX-RS → Used to develop RESTful services in Java</a:t>
            </a:r>
            <a:endParaRPr lang="en-US" altLang="en-US"/>
          </a:p>
          <a:p>
            <a:r>
              <a:rPr lang="en-US" altLang="en-US"/>
              <a:t>HTTP Methods → Define CRUD operations</a:t>
            </a:r>
            <a:endParaRPr lang="en-US" altLang="en-US"/>
          </a:p>
          <a:p>
            <a:r>
              <a:rPr lang="en-US" altLang="en-US"/>
              <a:t>Jersey Client → Used to consume REST APIs</a:t>
            </a:r>
            <a:endParaRPr lang="en-US" altLang="en-US"/>
          </a:p>
          <a:p>
            <a:r>
              <a:rPr lang="en-US" altLang="en-US"/>
              <a:t>Together, they form the backbone of REST-based Java applications.</a:t>
            </a:r>
            <a:endParaRPr lang="en-US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9133</Words>
  <Application>WPS Presentation</Application>
  <PresentationFormat>Widescreen</PresentationFormat>
  <Paragraphs>502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</vt:lpstr>
      <vt:lpstr>Office Theme</vt:lpstr>
      <vt:lpstr>JPA - Java Persistence API</vt:lpstr>
      <vt:lpstr>Definition : JPA</vt:lpstr>
      <vt:lpstr>JPA Architecture</vt:lpstr>
      <vt:lpstr>Description Table</vt:lpstr>
      <vt:lpstr>Main components of JPA</vt:lpstr>
      <vt:lpstr>1. Entity</vt:lpstr>
      <vt:lpstr>2. EntityManager - Operation on an Entity</vt:lpstr>
      <vt:lpstr>3. Persistence Unit</vt:lpstr>
      <vt:lpstr>4. Persistence Context</vt:lpstr>
      <vt:lpstr>5. JPA Provider</vt:lpstr>
      <vt:lpstr>6. Database</vt:lpstr>
      <vt:lpstr>Entity Lifecyle</vt:lpstr>
      <vt:lpstr>EntityManager Methods</vt:lpstr>
      <vt:lpstr>JPQL  - Java Persistence Query Language</vt:lpstr>
      <vt:lpstr>JDBC vs JPA</vt:lpstr>
      <vt:lpstr>JPA in EJB</vt:lpstr>
      <vt:lpstr>Advantages : JPA</vt:lpstr>
      <vt:lpstr>Disadvantages : JPA</vt:lpstr>
      <vt:lpstr>ORM with an Entites</vt:lpstr>
      <vt:lpstr>Definition : ORM</vt:lpstr>
      <vt:lpstr>Basic Entity Example</vt:lpstr>
      <vt:lpstr>Mapping Extension</vt:lpstr>
      <vt:lpstr>Important JPA Mapping Annotations</vt:lpstr>
      <vt:lpstr>Relationship Mapping</vt:lpstr>
      <vt:lpstr>Relationship Mapping</vt:lpstr>
      <vt:lpstr>Named Queries</vt:lpstr>
      <vt:lpstr>Definition : Named Queries</vt:lpstr>
      <vt:lpstr>Flow : Where Named Queries Resides ?</vt:lpstr>
      <vt:lpstr>Basic Example </vt:lpstr>
      <vt:lpstr>Named Query with Parameters</vt:lpstr>
      <vt:lpstr>Multiple Named Query</vt:lpstr>
      <vt:lpstr>Types of Named Queries</vt:lpstr>
      <vt:lpstr>PowerPoint 演示文稿</vt:lpstr>
      <vt:lpstr>Dynamic and Native Queries</vt:lpstr>
      <vt:lpstr>Introduction</vt:lpstr>
      <vt:lpstr>Dynamic Queries in JPA</vt:lpstr>
      <vt:lpstr>Example : JPQL</vt:lpstr>
      <vt:lpstr>Example using Criteria API</vt:lpstr>
      <vt:lpstr>Advantages of Dynamic Queries</vt:lpstr>
      <vt:lpstr>Native Queries in JPA</vt:lpstr>
      <vt:lpstr>Example</vt:lpstr>
      <vt:lpstr>Advantages of Native Queries</vt:lpstr>
      <vt:lpstr>Disadvantages</vt:lpstr>
      <vt:lpstr>Difference between Dynamic and Native Queries</vt:lpstr>
      <vt:lpstr>Roles in REST API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Vraj Suratwala</cp:lastModifiedBy>
  <cp:revision>48</cp:revision>
  <dcterms:created xsi:type="dcterms:W3CDTF">2025-07-23T00:59:00Z</dcterms:created>
  <dcterms:modified xsi:type="dcterms:W3CDTF">2026-02-21T18:40:15Z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3FA7CF5CA90A44D39E80ABBF35CC33AF_11</vt:lpwstr>
  </property>
  <property fmtid="{D5CDD505-2E9C-101B-9397-08002B2CF9AE}" pid="3" name="KSOProductBuildVer">
    <vt:lpwstr>1033-12.2.0.23155</vt:lpwstr>
  </property>
</Properties>
</file>